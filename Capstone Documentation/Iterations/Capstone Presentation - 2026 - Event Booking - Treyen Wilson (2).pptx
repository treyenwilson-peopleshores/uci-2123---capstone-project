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E9C091-25E1-984B-AA02-04700390E3CE}" v="56" dt="2026-04-24T18:15:41.5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CF023D-7989-46AB-A0E5-A8ED147B88CD}" type="datetimeFigureOut"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056C67-6FC6-4E81-8EEC-236B40F4873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360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/>
              <a:t>This is my capstone for UCI 2123.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It’s a full‑stack build: React frontend, Spring Boot backend, MySQL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56C67-6FC6-4E81-8EEC-236B40F4873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832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dirty="0"/>
              <a:t>The core user experience is: discover events quickly, view details, and proceed toward booking.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The core admin experience is: manage event lifecycle and data consistency through rules (immutability where appropriate).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56C67-6FC6-4E81-8EEC-236B40F48736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202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Show ERD for MySQL database – Explain the </a:t>
            </a:r>
            <a:r>
              <a:rPr lang="en-US">
                <a:ea typeface="Calibri"/>
                <a:cs typeface="Calibri"/>
              </a:rPr>
              <a:t>relationships between the tables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Frontend calls the API for event data and renders a calendar/list experience.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ea typeface="Calibri" panose="020F0502020204030204"/>
                <a:cs typeface="Calibri" panose="020F0502020204030204"/>
              </a:rPr>
              <a:t>E.g. </a:t>
            </a:r>
            <a:r>
              <a:rPr lang="en-US" dirty="0">
                <a:solidFill>
                  <a:srgbClr val="212121"/>
                </a:solidFill>
                <a:highlight>
                  <a:srgbClr val="FFFFFF"/>
                </a:highlight>
              </a:rPr>
              <a:t>http://localhost:8080/api/events</a:t>
            </a:r>
            <a:r>
              <a:rPr lang="en-US" dirty="0">
                <a:ea typeface="Calibri" panose="020F0502020204030204"/>
                <a:cs typeface="Calibri" panose="020F0502020204030204"/>
              </a:rPr>
              <a:t> 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Backend enforces business rules, validation, pagination, and consistent REST patterns.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485900" lvl="1" indent="-285750">
              <a:buFont typeface="Courier New"/>
              <a:buChar char="o"/>
            </a:pPr>
            <a:r>
              <a:rPr lang="en-US">
                <a:ea typeface="Calibri" panose="020F0502020204030204"/>
                <a:cs typeface="Calibri" panose="020F0502020204030204"/>
              </a:rPr>
              <a:t>Fill out data here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Database persists events, venues, users, tickets, and ticket sales for reporting.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485900" lvl="1" indent="-285750">
              <a:buFont typeface="Courier New"/>
              <a:buChar char="o"/>
            </a:pPr>
            <a:r>
              <a:rPr lang="en-US">
                <a:ea typeface="Calibri" panose="020F0502020204030204"/>
                <a:cs typeface="Calibri" panose="020F0502020204030204"/>
              </a:rPr>
              <a:t>Fill out data here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56C67-6FC6-4E81-8EEC-236B40F48736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77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dirty="0"/>
              <a:t>I’ll walk through the main routes and show how UI actions map to API responses.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56C67-6FC6-4E81-8EEC-236B40F48736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47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56C67-6FC6-4E81-8EEC-236B40F48736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17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56C67-6FC6-4E81-8EEC-236B40F48736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942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56C67-6FC6-4E81-8EEC-236B40F48736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4185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tools were used responsibly to improve productivity; I reviewed all generated code and maintained ownership of design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56C67-6FC6-4E81-8EEC-236B40F48736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381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56C67-6FC6-4E81-8EEC-236B40F48736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48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Title: Event Booking Platform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1900">
                <a:solidFill>
                  <a:srgbClr val="FFFFFF"/>
                </a:solidFill>
              </a:rPr>
              <a:t>Pitch: A full-stack app that centralizes event discovery and ticket tracking, letting users browse events by date and view ticket availability while admins manage listings through a REST API.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47847C-25A3-004C-2706-774BB1705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cs typeface="Segoe UI"/>
              </a:rPr>
              <a:t>Problem</a:t>
            </a:r>
            <a:r>
              <a:rPr lang="en-US" sz="4000">
                <a:solidFill>
                  <a:srgbClr val="FFFFFF"/>
                </a:solidFill>
                <a:latin typeface="Aptos Display"/>
                <a:cs typeface="Segoe UI"/>
              </a:rPr>
              <a:t> &amp; Solution (1 minute) (todo: remove timings)</a:t>
            </a:r>
            <a:endParaRPr lang="en-US" sz="400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156A1-C939-07B1-2F3B-936132D3B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Problem (before):</a:t>
            </a:r>
          </a:p>
          <a:p>
            <a:r>
              <a:rPr lang="en-US" sz="2000">
                <a:ea typeface="+mn-lt"/>
                <a:cs typeface="+mn-lt"/>
              </a:rPr>
              <a:t>Event information is often fragmented (spreadsheets, posts, multiple tools).</a:t>
            </a:r>
          </a:p>
          <a:p>
            <a:r>
              <a:rPr lang="en-US" sz="2000">
                <a:ea typeface="+mn-lt"/>
                <a:cs typeface="+mn-lt"/>
              </a:rPr>
              <a:t>Users struggle to find events by date/status and understand availability.</a:t>
            </a:r>
          </a:p>
          <a:p>
            <a:pPr marL="0" indent="0">
              <a:buNone/>
            </a:pPr>
            <a:r>
              <a:rPr lang="en-US" sz="2000" b="1">
                <a:ea typeface="+mn-lt"/>
                <a:cs typeface="+mn-lt"/>
              </a:rPr>
              <a:t>Solution (after):</a:t>
            </a:r>
            <a:endParaRPr lang="en-US" sz="2000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Centralized event catalog with calendar discovery.</a:t>
            </a:r>
          </a:p>
          <a:p>
            <a:r>
              <a:rPr lang="en-US" sz="2000">
                <a:ea typeface="+mn-lt"/>
                <a:cs typeface="+mn-lt"/>
              </a:rPr>
              <a:t>REST API supports filtering (date range, status), pagination, and consistent error handling.</a:t>
            </a:r>
          </a:p>
          <a:p>
            <a:r>
              <a:rPr lang="en-US" sz="2000">
                <a:ea typeface="+mn-lt"/>
                <a:cs typeface="+mn-lt"/>
              </a:rPr>
              <a:t>Ticketing represented as event inventory and completed sales records for reporting/auditing.</a:t>
            </a:r>
          </a:p>
          <a:p>
            <a:pPr marL="0" indent="0">
              <a:buNone/>
            </a:pPr>
            <a:endParaRPr lang="en-US" sz="2000" b="1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407980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6CAB0-A33F-F63A-761B-CA19940F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latin typeface="Aptos Display"/>
                <a:cs typeface="Segoe UI"/>
              </a:rPr>
              <a:t>Architecture Overview (2 minutes) TO DO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69AE8-C5C7-E418-81BE-E96F1F600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400" b="1">
                <a:latin typeface="Segoe UI"/>
                <a:cs typeface="Segoe UI"/>
              </a:rPr>
              <a:t>Architecture (high level):</a:t>
            </a:r>
            <a:endParaRPr lang="en-US" sz="1400"/>
          </a:p>
          <a:p>
            <a:r>
              <a:rPr lang="en-US" sz="1400" b="1">
                <a:latin typeface="Segoe UI"/>
                <a:cs typeface="Segoe UI"/>
              </a:rPr>
              <a:t>React</a:t>
            </a:r>
            <a:r>
              <a:rPr lang="en-US" sz="1400">
                <a:latin typeface="Segoe UI"/>
                <a:cs typeface="Segoe UI"/>
              </a:rPr>
              <a:t> frontend (component-based UI, routing, API integration)</a:t>
            </a:r>
            <a:endParaRPr lang="en-US" sz="1400"/>
          </a:p>
          <a:p>
            <a:r>
              <a:rPr lang="en-US" sz="1400" b="1">
                <a:latin typeface="Segoe UI"/>
                <a:cs typeface="Segoe UI"/>
              </a:rPr>
              <a:t>Spring Boot</a:t>
            </a:r>
            <a:r>
              <a:rPr lang="en-US" sz="1400">
                <a:latin typeface="Segoe UI"/>
                <a:cs typeface="Segoe UI"/>
              </a:rPr>
              <a:t> REST API (controller/service/repository layers)</a:t>
            </a:r>
            <a:endParaRPr lang="en-US" sz="1400"/>
          </a:p>
          <a:p>
            <a:r>
              <a:rPr lang="en-US" sz="1400" b="1">
                <a:latin typeface="Segoe UI"/>
                <a:cs typeface="Segoe UI"/>
              </a:rPr>
              <a:t>MySQL</a:t>
            </a:r>
            <a:r>
              <a:rPr lang="en-US" sz="1400">
                <a:latin typeface="Segoe UI"/>
                <a:cs typeface="Segoe UI"/>
              </a:rPr>
              <a:t> relational database (tables + constraints)</a:t>
            </a:r>
            <a:endParaRPr lang="en-US" sz="1400"/>
          </a:p>
          <a:p>
            <a:pPr marL="3657600" lvl="8" indent="0">
              <a:buNone/>
            </a:pPr>
            <a:r>
              <a:rPr lang="en-US" sz="1400">
                <a:latin typeface="Aptos"/>
                <a:ea typeface="+mn-lt"/>
                <a:cs typeface="Segoe UI"/>
              </a:rPr>
              <a:t>[</a:t>
            </a:r>
            <a:r>
              <a:rPr lang="en-US" sz="1400">
                <a:ea typeface="+mn-lt"/>
                <a:cs typeface="+mn-lt"/>
              </a:rPr>
              <a:t> React Frontend ]</a:t>
            </a:r>
            <a:endParaRPr lang="en-US" sz="1400"/>
          </a:p>
          <a:p>
            <a:pPr marL="3657600" lvl="8" indent="0">
              <a:buNone/>
            </a:pPr>
            <a:r>
              <a:rPr lang="en-US" sz="1400">
                <a:ea typeface="+mn-lt"/>
                <a:cs typeface="+mn-lt"/>
              </a:rPr>
              <a:t>        |</a:t>
            </a:r>
            <a:endParaRPr lang="en-US" sz="1400"/>
          </a:p>
          <a:p>
            <a:pPr marL="3657600" lvl="8" indent="0">
              <a:buNone/>
            </a:pPr>
            <a:r>
              <a:rPr lang="en-US" sz="1400">
                <a:ea typeface="+mn-lt"/>
                <a:cs typeface="+mn-lt"/>
              </a:rPr>
              <a:t>     HTTP / REST</a:t>
            </a:r>
            <a:endParaRPr lang="en-US" sz="1400"/>
          </a:p>
          <a:p>
            <a:pPr marL="3657600" lvl="8" indent="0">
              <a:buNone/>
            </a:pPr>
            <a:r>
              <a:rPr lang="en-US" sz="1400">
                <a:ea typeface="+mn-lt"/>
                <a:cs typeface="+mn-lt"/>
              </a:rPr>
              <a:t>        |</a:t>
            </a:r>
            <a:endParaRPr lang="en-US" sz="1400"/>
          </a:p>
          <a:p>
            <a:pPr marL="3657600" lvl="8" indent="0">
              <a:buNone/>
            </a:pPr>
            <a:r>
              <a:rPr lang="en-US" sz="1400">
                <a:ea typeface="+mn-lt"/>
                <a:cs typeface="+mn-lt"/>
              </a:rPr>
              <a:t>[ Spring Boot API ]</a:t>
            </a:r>
            <a:endParaRPr lang="en-US" sz="1400"/>
          </a:p>
          <a:p>
            <a:pPr marL="3657600" lvl="8" indent="0">
              <a:buNone/>
            </a:pPr>
            <a:r>
              <a:rPr lang="en-US" sz="1400">
                <a:ea typeface="+mn-lt"/>
                <a:cs typeface="+mn-lt"/>
              </a:rPr>
              <a:t>        |</a:t>
            </a:r>
            <a:endParaRPr lang="en-US" sz="1400"/>
          </a:p>
          <a:p>
            <a:pPr marL="3657600" lvl="8" indent="0">
              <a:buNone/>
            </a:pPr>
            <a:r>
              <a:rPr lang="en-US" sz="1400">
                <a:ea typeface="+mn-lt"/>
                <a:cs typeface="+mn-lt"/>
              </a:rPr>
              <a:t>     JPA / Hibernate</a:t>
            </a:r>
            <a:endParaRPr lang="en-US" sz="1400"/>
          </a:p>
          <a:p>
            <a:pPr marL="3657600" lvl="8" indent="0">
              <a:buNone/>
            </a:pPr>
            <a:r>
              <a:rPr lang="en-US" sz="1400">
                <a:ea typeface="+mn-lt"/>
                <a:cs typeface="+mn-lt"/>
              </a:rPr>
              <a:t>        |</a:t>
            </a:r>
            <a:endParaRPr lang="en-US" sz="1400"/>
          </a:p>
          <a:p>
            <a:pPr marL="3657600" lvl="8" indent="0">
              <a:buNone/>
            </a:pPr>
            <a:r>
              <a:rPr lang="en-US" sz="1400">
                <a:ea typeface="+mn-lt"/>
                <a:cs typeface="+mn-lt"/>
              </a:rPr>
              <a:t>[ MySQL Database ]</a:t>
            </a:r>
            <a:br>
              <a:rPr lang="en-US" sz="1400">
                <a:ea typeface="+mn-lt"/>
                <a:cs typeface="+mn-lt"/>
              </a:rPr>
            </a:b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426765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18686-F892-4999-06E7-1ABAC2FDD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>
                <a:latin typeface="Aptos Display"/>
                <a:cs typeface="Segoe UI"/>
              </a:rPr>
              <a:t>Slide 4 — Live Demo Preparation (transition)</a:t>
            </a:r>
            <a:endParaRPr lang="en-US">
              <a:cs typeface="Segoe U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BFD1A-72C4-A39E-70C3-0C8216AA6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100">
                <a:latin typeface="Segoe UI"/>
                <a:cs typeface="Segoe UI"/>
              </a:rPr>
              <a:t>App is running locally.</a:t>
            </a:r>
            <a:endParaRPr lang="en-US"/>
          </a:p>
          <a:p>
            <a:r>
              <a:rPr lang="en-US" sz="1100">
                <a:latin typeface="Segoe UI"/>
                <a:cs typeface="Segoe UI"/>
              </a:rPr>
              <a:t>Demo will show core user flows and the API-backed UI.</a:t>
            </a:r>
            <a:endParaRPr lang="en-US"/>
          </a:p>
          <a:p>
            <a:r>
              <a:rPr lang="en-US" sz="1100">
                <a:latin typeface="Segoe UI"/>
                <a:cs typeface="Segoe UI"/>
              </a:rPr>
              <a:t>Setup steps are documented in README (backend + frontend).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384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C7B31-AACB-B04D-9B55-06DABB180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 Display"/>
                <a:cs typeface="Segoe UI"/>
              </a:rPr>
              <a:t>Slide 5 — Live Demo (3 minutes)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809C7-BF0B-390D-7B79-14C8A69CC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100" b="1">
                <a:latin typeface="Segoe UI"/>
                <a:cs typeface="Segoe UI"/>
              </a:rPr>
              <a:t>Demo flow (recommended order):</a:t>
            </a:r>
            <a:endParaRPr lang="en-US"/>
          </a:p>
          <a:p>
            <a:r>
              <a:rPr lang="en-US" sz="1100" b="1">
                <a:latin typeface="Segoe UI"/>
                <a:cs typeface="Segoe UI"/>
              </a:rPr>
              <a:t>Home / Calendar route</a:t>
            </a:r>
            <a:r>
              <a:rPr lang="en-US" sz="1100">
                <a:latin typeface="Segoe UI"/>
                <a:cs typeface="Segoe UI"/>
              </a:rPr>
              <a:t>: show month navigation and event discovery.</a:t>
            </a:r>
            <a:endParaRPr lang="en-US"/>
          </a:p>
          <a:p>
            <a:r>
              <a:rPr lang="en-US" sz="1100" b="1">
                <a:latin typeface="Segoe UI"/>
                <a:cs typeface="Segoe UI"/>
              </a:rPr>
              <a:t>Event detail view</a:t>
            </a:r>
            <a:r>
              <a:rPr lang="en-US" sz="1100">
                <a:latin typeface="Segoe UI"/>
                <a:cs typeface="Segoe UI"/>
              </a:rPr>
              <a:t> (modal/dialog): show full event name/date/status and the “Buy Ticket” button (even if not wired yet).</a:t>
            </a:r>
            <a:endParaRPr lang="en-US"/>
          </a:p>
          <a:p>
            <a:r>
              <a:rPr lang="en-US" sz="1100" b="1">
                <a:latin typeface="Segoe UI"/>
                <a:cs typeface="Segoe UI"/>
              </a:rPr>
              <a:t>Events list route</a:t>
            </a:r>
            <a:r>
              <a:rPr lang="en-US" sz="1100">
                <a:latin typeface="Segoe UI"/>
                <a:cs typeface="Segoe UI"/>
              </a:rPr>
              <a:t>: show pagination/sorting/filtering working from the API.</a:t>
            </a:r>
            <a:endParaRPr lang="en-US"/>
          </a:p>
          <a:p>
            <a:r>
              <a:rPr lang="en-US" sz="1100" b="1">
                <a:latin typeface="Segoe UI"/>
                <a:cs typeface="Segoe UI"/>
              </a:rPr>
              <a:t>My Tickets route</a:t>
            </a:r>
            <a:r>
              <a:rPr lang="en-US" sz="1100">
                <a:latin typeface="Segoe UI"/>
                <a:cs typeface="Segoe UI"/>
              </a:rPr>
              <a:t>: show user-facing ticket history/ownership concept.</a:t>
            </a:r>
            <a:endParaRPr lang="en-US"/>
          </a:p>
          <a:p>
            <a:r>
              <a:rPr lang="en-US" sz="1100" b="1">
                <a:latin typeface="Segoe UI"/>
                <a:cs typeface="Segoe UI"/>
              </a:rPr>
              <a:t>Admin Manager</a:t>
            </a:r>
            <a:r>
              <a:rPr lang="en-US" sz="1100">
                <a:latin typeface="Segoe UI"/>
                <a:cs typeface="Segoe UI"/>
              </a:rPr>
              <a:t> Show admin management and displays events with sold out tickets.</a:t>
            </a:r>
            <a:endParaRPr lang="en-US"/>
          </a:p>
          <a:p>
            <a:endParaRPr lang="en-US" dirty="0"/>
          </a:p>
          <a:p>
            <a:r>
              <a:rPr lang="en-US" dirty="0"/>
              <a:t>[Put recorded video here </a:t>
            </a:r>
            <a:r>
              <a:rPr lang="en-US"/>
              <a:t>showing off the Event Booking Application, once stable, in case it breaks on presentation day]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924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D853A-F5D8-8E6B-4AA8-78088F642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6 – TO DO - </a:t>
            </a:r>
            <a:r>
              <a:rPr lang="en-US" sz="1100">
                <a:latin typeface="Segoe UI"/>
                <a:cs typeface="Segoe UI"/>
              </a:rPr>
              <a:t>Slide 6 — Technical Deep Dive (2 minutes</a:t>
            </a:r>
            <a:endParaRPr lang="en-US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82AC9-5AC4-6EEC-8256-D9EF629C4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07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EDBD-2279-EC6A-4FFB-5CB7EDCB3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>
                <a:latin typeface="Aptos Display"/>
                <a:cs typeface="Segoe UI"/>
              </a:rPr>
              <a:t>Slide 7 — Security &amp; Local Setup (1 minute) -  TO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D7356-8A39-27D5-9AF4-E0A544BD7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955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1974D3-2D91-2A93-3CF8-7CB43A995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latin typeface="Aptos Display"/>
                <a:cs typeface="Segoe UI"/>
              </a:rPr>
              <a:t>Slide 8 — Lessons Learned (1 minute)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69D6A-3CCF-8F7D-55A5-FB8B6EA10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>
                <a:latin typeface="Segoe UI"/>
                <a:cs typeface="Segoe UI"/>
              </a:rPr>
              <a:t>Lessons learned: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latin typeface="Segoe UI"/>
                <a:cs typeface="Segoe UI"/>
              </a:rPr>
              <a:t>Shipping iteratively beats over-polishing one screen.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latin typeface="Segoe UI"/>
                <a:cs typeface="Segoe UI"/>
              </a:rPr>
              <a:t>Clear scope boundaries prevent regressions and keep progress measurable.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latin typeface="Segoe UI"/>
                <a:cs typeface="Segoe UI"/>
              </a:rPr>
              <a:t>Accessibility and responsiveness require testing across constraints, not assumptions.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latin typeface="Segoe UI"/>
                <a:cs typeface="Segoe UI"/>
              </a:rPr>
              <a:t>Separating concerns (UI components vs API services vs DB rules) makes debugging and enhancement safer.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latin typeface="Segoe UI"/>
                <a:cs typeface="Segoe UI"/>
              </a:rPr>
              <a:t>AI really does 10x performance, but the generated code must be checked and made sure it works, as there will be errors at times.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00785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22461-ED62-8DAA-6C4B-25802048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 Display"/>
                <a:cs typeface="Segoe UI"/>
              </a:rPr>
              <a:t>Slide 9 — Q&amp;A</a:t>
            </a:r>
            <a:endParaRPr lang="en-US">
              <a:cs typeface="Segoe U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EE935-46B7-A4FF-A699-D06FE0A24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Questions?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923DEC-17C3-EAD0-1519-86906AE8F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860" y="88604"/>
            <a:ext cx="4697187" cy="668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737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Title: Event Booking Platform</vt:lpstr>
      <vt:lpstr>Problem &amp; Solution (1 minute) (todo: remove timings)</vt:lpstr>
      <vt:lpstr>Architecture Overview (2 minutes) TO DO</vt:lpstr>
      <vt:lpstr>Slide 4 — Live Demo Preparation (transition)</vt:lpstr>
      <vt:lpstr>Slide 5 — Live Demo (3 minutes)</vt:lpstr>
      <vt:lpstr>SLIDE 6 – TO DO - Slide 6 — Technical Deep Dive (2 minutes </vt:lpstr>
      <vt:lpstr>Slide 7 — Security &amp; Local Setup (1 minute) -  TO DO</vt:lpstr>
      <vt:lpstr>Slide 8 — Lessons Learned (1 minute)</vt:lpstr>
      <vt:lpstr>Slide 9 — 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135</cp:revision>
  <dcterms:created xsi:type="dcterms:W3CDTF">2026-04-21T13:32:03Z</dcterms:created>
  <dcterms:modified xsi:type="dcterms:W3CDTF">2026-04-25T22:24:19Z</dcterms:modified>
</cp:coreProperties>
</file>